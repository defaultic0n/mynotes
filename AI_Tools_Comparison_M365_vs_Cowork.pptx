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7A48">
              <a:alpha val="35000"/>
            </a:srgbClr>
          </a:solidFill>
          <a:ln w="12700">
            <a:solidFill>
              <a:srgbClr val="1A7A4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560320" cy="2560320"/>
          </a:xfrm>
          <a:prstGeom prst="ellipse">
            <a:avLst/>
          </a:prstGeom>
          <a:solidFill>
            <a:srgbClr val="C9A84C">
              <a:alpha val="22000"/>
            </a:srgbClr>
          </a:solidFill>
          <a:ln w="12700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1A7A48">
              <a:alpha val="25000"/>
            </a:srgbClr>
          </a:solidFill>
          <a:ln w="12700">
            <a:solidFill>
              <a:srgbClr val="1A7A4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173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Comparison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pPr indent="0" marL="0">
              <a:buNone/>
            </a:pPr>
            <a:r>
              <a:rPr lang="en-US" sz="2200" dirty="0">
                <a:solidFill>
                  <a:srgbClr val="A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informational overview for management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7A48">
              <a:alpha val="50000"/>
            </a:srgbClr>
          </a:solidFill>
          <a:ln w="12700">
            <a:solidFill>
              <a:srgbClr val="1A7A4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Mustakim Mustafa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4D2E"/>
          </a:solidFill>
          <a:ln w="12700">
            <a:solidFill>
              <a:srgbClr val="0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These AI Tools?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657600"/>
          </a:xfrm>
          <a:prstGeom prst="rect">
            <a:avLst/>
          </a:prstGeom>
          <a:solidFill>
            <a:srgbClr val="EBF3FF"/>
          </a:solidFill>
          <a:ln w="12700">
            <a:solidFill>
              <a:srgbClr val="C8DC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61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070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365 Copilot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embedded inside Microsoft 365 apps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29968"/>
            <a:ext cx="3566160" cy="36576"/>
          </a:xfrm>
          <a:prstGeom prst="rect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21408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Word, Excel, Outlook, and Teams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emails, summarises meetings, and builds reports automatically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OpenAI's GPT — embedded in Microsoft's ecosystem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AI to tools your team already uses every 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3657600"/>
          </a:xfrm>
          <a:prstGeom prst="rect">
            <a:avLst/>
          </a:prstGeom>
          <a:solidFill>
            <a:srgbClr val="F4FBF7"/>
          </a:solidFill>
          <a:ln w="12700">
            <a:solidFill>
              <a:srgbClr val="B8D8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51560"/>
            <a:ext cx="4160520" cy="91440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1615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2070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Cowork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1691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your desktop, by Anthropic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2029968"/>
            <a:ext cx="3749040" cy="36576"/>
          </a:xfrm>
          <a:prstGeom prst="rect">
            <a:avLst/>
          </a:prstGeom>
          <a:solidFill>
            <a:srgbClr val="1A7A48">
              <a:alpha val="40000"/>
            </a:srgbClr>
          </a:solidFill>
          <a:ln w="12700">
            <a:solidFill>
              <a:srgbClr val="1A7A48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46320" y="2121408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your entire computer — files, browser, documents, apps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research, report writing, and workflow automation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Anthropic's Claude — designed for safety and nuanced reasoning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for non-technical users with no Microsoft dependency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4D2E"/>
          </a:solidFill>
          <a:ln w="12700">
            <a:solidFill>
              <a:srgbClr val="0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Comparison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Microsoft 365 Copilot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Claude Cowork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</a:rPr>
                        <a:t>Where it works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Inside Microsoft 365 apps (Word, Excel, Outlook, Teams)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Across your desktop — files, browser, documents, and more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</a:rPr>
                        <a:t>Main strength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Deep integration with Microsoft tools you already use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Flexible reasoning and multi-step task automation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Email drafting, meeting summaries, Excel formulas, Word docs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Research, reports, file organisation, workflow automation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</a:rPr>
                        <a:t>Existing tools required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Yes — needs active Microsoft 365 subscription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No — works standalone on any Windows or Mac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2"/>
                          </a:solidFill>
                        </a:rPr>
                        <a:t>Ease of use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Familiar to existing Microsoft users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Simple chat interface — no technical skills needed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4D2E"/>
          </a:solidFill>
          <a:ln w="12700">
            <a:solidFill>
              <a:srgbClr val="0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Use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tool helps your team get work done faster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97764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4251960" cy="384048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3258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3977640" cy="667512"/>
          </a:xfrm>
          <a:prstGeom prst="rect">
            <a:avLst/>
          </a:prstGeom>
          <a:solidFill>
            <a:srgbClr val="EBF3FF"/>
          </a:solidFill>
          <a:ln w="6350">
            <a:solidFill>
              <a:srgbClr val="C8DC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8800"/>
            <a:ext cx="64008" cy="6675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97510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1892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professional emails in Outlook from brief prompts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587752"/>
            <a:ext cx="3977640" cy="667512"/>
          </a:xfrm>
          <a:prstGeom prst="rect">
            <a:avLst/>
          </a:prstGeom>
          <a:solidFill>
            <a:srgbClr val="EBF3FF"/>
          </a:solidFill>
          <a:ln w="6350">
            <a:solidFill>
              <a:srgbClr val="C8DC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2587752"/>
            <a:ext cx="64008" cy="6675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73405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6112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Summaries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Auto-summarises Teams meetings with key action items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74320" y="3346704"/>
            <a:ext cx="3977640" cy="667512"/>
          </a:xfrm>
          <a:prstGeom prst="rect">
            <a:avLst/>
          </a:prstGeom>
          <a:solidFill>
            <a:srgbClr val="EBF3FF"/>
          </a:solidFill>
          <a:ln w="6350">
            <a:solidFill>
              <a:srgbClr val="C8DCF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3346704"/>
            <a:ext cx="64008" cy="6675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49300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" y="3410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Creation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first-draft Word reports from bullet points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74320" y="4105656"/>
            <a:ext cx="3977640" cy="667512"/>
          </a:xfrm>
          <a:prstGeom prst="rect">
            <a:avLst/>
          </a:prstGeom>
          <a:solidFill>
            <a:srgbClr val="EBF3FF"/>
          </a:solidFill>
          <a:ln w="6350">
            <a:solidFill>
              <a:srgbClr val="C8DCF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74320" y="4105656"/>
            <a:ext cx="64008" cy="6675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25196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6112" y="41696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Analysis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charts and formulas from plain-language requests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617720" y="1828800"/>
            <a:ext cx="4251960" cy="667512"/>
          </a:xfrm>
          <a:prstGeom prst="rect">
            <a:avLst/>
          </a:prstGeom>
          <a:solidFill>
            <a:srgbClr val="F4FBF7"/>
          </a:solidFill>
          <a:ln w="6350">
            <a:solidFill>
              <a:srgbClr val="B8D8C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7720" y="1828800"/>
            <a:ext cx="64008" cy="667512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97510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39512" y="18928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Summarisation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documents and web pages, returns concise summaries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17720" y="2587752"/>
            <a:ext cx="4251960" cy="667512"/>
          </a:xfrm>
          <a:prstGeom prst="rect">
            <a:avLst/>
          </a:prstGeom>
          <a:solidFill>
            <a:srgbClr val="F4FBF7"/>
          </a:solidFill>
          <a:ln w="6350">
            <a:solidFill>
              <a:srgbClr val="B8D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617720" y="2587752"/>
            <a:ext cx="64008" cy="667512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2734056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39512" y="26517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Management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Organises, renames, and manages files across your computer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17720" y="3346704"/>
            <a:ext cx="4251960" cy="667512"/>
          </a:xfrm>
          <a:prstGeom prst="rect">
            <a:avLst/>
          </a:prstGeom>
          <a:solidFill>
            <a:srgbClr val="F4FBF7"/>
          </a:solidFill>
          <a:ln w="6350">
            <a:solidFill>
              <a:srgbClr val="B8D8C8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617720" y="3346704"/>
            <a:ext cx="64008" cy="667512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493008"/>
            <a:ext cx="347472" cy="3474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239512" y="34107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Proposal Writing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full reports, memos, and presentations from scratch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4617720" y="4105656"/>
            <a:ext cx="4251960" cy="667512"/>
          </a:xfrm>
          <a:prstGeom prst="rect">
            <a:avLst/>
          </a:prstGeom>
          <a:solidFill>
            <a:srgbClr val="F4FBF7"/>
          </a:solidFill>
          <a:ln w="6350">
            <a:solidFill>
              <a:srgbClr val="B8D8C8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4617720" y="4105656"/>
            <a:ext cx="64008" cy="667512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4251960"/>
            <a:ext cx="347472" cy="34747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239512" y="41696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Automation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multi-step tasks with simple instructions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4D2E"/>
          </a:solidFill>
          <a:ln w="12700">
            <a:solidFill>
              <a:srgbClr val="0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Pricing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5156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005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Privacy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444752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444752"/>
            <a:ext cx="3977640" cy="8229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within your Microsoft 365 tenant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enterprise standards (ISO 27001, SOC 2)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your organisation's existing Microsoft policies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444752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444752"/>
            <a:ext cx="4251960" cy="82296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1874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design — processes data locally where possible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plan: data is NOT used to train AI models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Anthropic's responsible AI safety principles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999232"/>
            <a:ext cx="8595360" cy="347472"/>
          </a:xfrm>
          <a:prstGeom prst="rect">
            <a:avLst/>
          </a:prstGeom>
          <a:solidFill>
            <a:srgbClr val="1A7A48"/>
          </a:solidFill>
          <a:ln w="12700">
            <a:solidFill>
              <a:srgbClr val="1A7A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999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Licensing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4320" y="3438144"/>
            <a:ext cx="39776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54787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$30 / user / month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to Microsoft 365 E3 or E5 plan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(requires existing M365 subscription)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617720" y="3438144"/>
            <a:ext cx="4251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8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54787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~USD $20 / user / month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— no Microsoft licence required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Enterprise plans available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1A7A48">
              <a:alpha val="32000"/>
            </a:srgbClr>
          </a:solidFill>
          <a:ln w="12700">
            <a:solidFill>
              <a:srgbClr val="1A7A48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82296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2743200" cy="3520440"/>
          </a:xfrm>
          <a:prstGeom prst="rect">
            <a:avLst/>
          </a:prstGeom>
          <a:solidFill>
            <a:srgbClr val="1A7A48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are capable AI tools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103120" cy="36576"/>
          </a:xfrm>
          <a:prstGeom prst="rect">
            <a:avLst/>
          </a:prstGeom>
          <a:solidFill>
            <a:srgbClr val="C9A84C">
              <a:alpha val="55000"/>
            </a:srgbClr>
          </a:solidFill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offers strong AI capabilities — the right choice depends on your organisation's workflow and priorities.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51960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236976" y="1143000"/>
            <a:ext cx="2743200" cy="3520440"/>
          </a:xfrm>
          <a:prstGeom prst="rect">
            <a:avLst/>
          </a:prstGeom>
          <a:solidFill>
            <a:srgbClr val="1A7A48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01568" y="1261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401568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= Microsoft-first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01568" y="2377440"/>
            <a:ext cx="2103120" cy="36576"/>
          </a:xfrm>
          <a:prstGeom prst="rect">
            <a:avLst/>
          </a:prstGeom>
          <a:solidFill>
            <a:srgbClr val="C9A84C">
              <a:alpha val="55000"/>
            </a:srgbClr>
          </a:solidFill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01568" y="2487168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if your team is already in Microsoft 365 daily. Best for email, documents, meetings, and spreadsheets within that ecosystem.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4251960"/>
            <a:ext cx="320040" cy="320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81344" y="1143000"/>
            <a:ext cx="2743200" cy="3520440"/>
          </a:xfrm>
          <a:prstGeom prst="rect">
            <a:avLst/>
          </a:prstGeom>
          <a:solidFill>
            <a:srgbClr val="1A7A48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45936" y="1261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6345936" y="1828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 = broader flexibility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345936" y="2377440"/>
            <a:ext cx="2103120" cy="36576"/>
          </a:xfrm>
          <a:prstGeom prst="rect">
            <a:avLst/>
          </a:prstGeom>
          <a:solidFill>
            <a:srgbClr val="C9A84C">
              <a:alpha val="55000"/>
            </a:srgbClr>
          </a:solidFill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45936" y="2487168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teams needing AI beyond Microsoft tools — from research and writing to file management and task automation.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4251960"/>
            <a:ext cx="320040" cy="3200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7A48">
              <a:alpha val="50000"/>
            </a:srgbClr>
          </a:solidFill>
          <a:ln w="12700">
            <a:solidFill>
              <a:srgbClr val="1A7A48">
                <a:alpha val="5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Mustakim Mustafa  |  March 2026  |  Khazanah Nasional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Comparison: Microsoft 365 Copilot vs Claude Cowork</dc:title>
  <dc:subject>PptxGenJS Presentation</dc:subject>
  <dc:creator>Mustakim Mustafa</dc:creator>
  <cp:lastModifiedBy>Mustakim Mustafa</cp:lastModifiedBy>
  <cp:revision>1</cp:revision>
  <dcterms:created xsi:type="dcterms:W3CDTF">2026-03-10T12:12:42Z</dcterms:created>
  <dcterms:modified xsi:type="dcterms:W3CDTF">2026-03-10T12:12:42Z</dcterms:modified>
</cp:coreProperties>
</file>